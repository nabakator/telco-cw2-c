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67" r:id="rId4"/>
    <p:sldId id="280" r:id="rId5"/>
    <p:sldId id="268" r:id="rId6"/>
    <p:sldId id="281" r:id="rId7"/>
    <p:sldId id="269" r:id="rId8"/>
    <p:sldId id="270" r:id="rId9"/>
    <p:sldId id="282" r:id="rId10"/>
    <p:sldId id="271" r:id="rId11"/>
    <p:sldId id="283" r:id="rId12"/>
    <p:sldId id="272" r:id="rId13"/>
    <p:sldId id="277" r:id="rId14"/>
    <p:sldId id="273" r:id="rId15"/>
    <p:sldId id="274" r:id="rId16"/>
    <p:sldId id="278" r:id="rId17"/>
    <p:sldId id="275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68"/>
  </p:normalViewPr>
  <p:slideViewPr>
    <p:cSldViewPr snapToGrid="0">
      <p:cViewPr varScale="1">
        <p:scale>
          <a:sx n="95" d="100"/>
          <a:sy n="95" d="100"/>
        </p:scale>
        <p:origin x="200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8575-11A7-0B6C-EB0A-50DEFEC81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37EEE-E130-AABA-C4E6-D5C15A2B1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2760C-06E8-4244-89E5-E0EDE5A3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A3C23-E654-D5C2-C182-44A83645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36445-6A6F-262A-29C1-E67DBB68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83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2BF1-08BE-E6E8-684D-680947C2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0DA61-202C-86A4-CEFA-7FF89E5DC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2B5EF-4263-B7C4-1A9D-41A1DDC5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E2428-9D53-78D3-AF2A-A234031F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8D5CA-904F-7488-B02F-509A4A39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50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9E68-FF03-E966-B483-9F0BE87A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4F107-AA01-FBF2-C7D1-3AC0977DF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6A80D-4C0B-9FBF-A19F-20269D0F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59BCC-AA30-5458-9DE3-098DA1F5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0C338-15D8-725B-1DE4-B5B2B76D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98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E39EE-1C81-EAA3-C810-08DC6A08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1A2C5-E539-743E-4101-187A81690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85CDD-E086-52E8-255F-CEB66E2AC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7884F-73B1-32FE-F0E4-049197E5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17334-A781-E6C8-2A93-117EA245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9FA21-EECD-0C7A-A8D0-ED655BC5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71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EC43-3A1C-65A9-8C88-8AD502867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3FD86-90D2-7DAE-0F3B-760EF6EE8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B9FB0-42BE-167E-8D21-DF763C7EC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74A50-AAC7-6B47-5F20-72DB24C05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1E7F29-EFEA-6D12-0878-683C0D69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F826C5-FCD9-A209-BA2F-9925FB09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E62C0-EAC5-BB7A-6971-44B42C85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CB419B-6BD8-52C3-AD5B-6E40D025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513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BB7E-8CB1-A58D-1863-66B955E3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AFE45-61AE-CCCE-F515-7F490F67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DFDEB-BBD9-DBDE-7409-B53F3C99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2D669-EC57-ECDD-1B97-5A01B517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177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C0480D-54D7-B879-3655-E321A39D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8CEE6-A3D2-4461-1A62-5603D80B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41D93-FC97-F530-6629-C6595AAC5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93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7C7A-D70A-5BFD-1BC8-1B80D19C3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DAE78-A710-6A74-2483-1539F6DE3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950AB-A575-C68C-998D-B42EF0105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66F96-5627-1806-0267-F2D766E7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934AB-9C2B-23E3-4B8B-07190FA08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CF727-BF5F-FC50-905D-FC1AEADC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0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C7B77-EC95-A407-EC1F-AAEAB8755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94AA2-B7CD-1BD4-A822-266761725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6B28E-8125-CB0C-C2DB-466A4150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06CF2-F10A-DCC9-87FE-96EB46AD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90577-E22D-C05F-DF6C-8A7F43F9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D79DF-A847-461E-A164-4EE85197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9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0DD8-6D14-D756-A445-BF30B463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0592E-6B78-BF4F-D6D5-45E13EE97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BCF4E-ED47-5F9C-B64A-365F2900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0CE5A-F520-791B-6564-60F0C6AA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60D5E-2C6B-78A2-720C-989A4DB8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13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8A5EB-BDA4-9728-884C-CD0E653F2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98BA3-A3A9-B684-33C6-F74B551F8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3ACA8-2482-DAB9-3805-F81E11C4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1B70-F446-6F13-F9A9-828FCE64B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E8677-B130-95BE-8915-1EB4F368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13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ECFC7-E5BF-DD96-AFEB-1C975594E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25B83-8395-8FB0-D15C-F63AC0265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ECE15-1BF3-392B-2B42-7267F5B49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B2C9-E176-E64A-B20A-CAAEC61CBBBB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A0FCA-A2D3-D2D5-227B-F9F65D574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4090E-AE4D-3E11-7CFD-F37C632B0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C1FC2-0733-F444-BC0A-414A15307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07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29000" b="-2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F043-8DFC-8E22-D1D9-8CA86D327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ENG4200 — Coursework 2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23408-4AA0-B23D-01CD-3B55FD99EC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Predicting customer churn: A comparative study of ML pipelines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AEF78-7DE8-C2DC-F4C7-0ABD27450BDD}"/>
              </a:ext>
            </a:extLst>
          </p:cNvPr>
          <p:cNvSpPr txBox="1"/>
          <p:nvPr/>
        </p:nvSpPr>
        <p:spPr>
          <a:xfrm>
            <a:off x="762000" y="5257800"/>
            <a:ext cx="1066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Group ID: Telco-CW2-C</a:t>
            </a:r>
          </a:p>
          <a:p>
            <a:r>
              <a:rPr lang="en-GB" dirty="0"/>
              <a:t>Group members: Ayush </a:t>
            </a:r>
            <a:r>
              <a:rPr lang="en-GB" dirty="0" err="1"/>
              <a:t>Bhandge</a:t>
            </a:r>
            <a:r>
              <a:rPr lang="en-GB" dirty="0"/>
              <a:t> (3148137B), Prathamesh Deepak </a:t>
            </a:r>
            <a:r>
              <a:rPr lang="en-GB" dirty="0" err="1"/>
              <a:t>Bagal</a:t>
            </a:r>
            <a:r>
              <a:rPr lang="en-GB" dirty="0"/>
              <a:t> (3154253B), Karthik </a:t>
            </a:r>
            <a:r>
              <a:rPr lang="en-GB" dirty="0" err="1"/>
              <a:t>Mandigiri</a:t>
            </a:r>
            <a:r>
              <a:rPr lang="en-GB" dirty="0"/>
              <a:t> (3155271M), Nathan Sidi Bakari (3071212S), </a:t>
            </a:r>
            <a:r>
              <a:rPr lang="en-GB" dirty="0" err="1"/>
              <a:t>Zefu</a:t>
            </a:r>
            <a:r>
              <a:rPr lang="en-GB" dirty="0"/>
              <a:t> Wang (3136524W), </a:t>
            </a:r>
            <a:r>
              <a:rPr lang="en-GB" dirty="0" err="1"/>
              <a:t>Jiangyue</a:t>
            </a:r>
            <a:r>
              <a:rPr lang="en-GB" dirty="0"/>
              <a:t> Yao Zhao (3084311Z)</a:t>
            </a:r>
          </a:p>
        </p:txBody>
      </p:sp>
    </p:spTree>
    <p:extLst>
      <p:ext uri="{BB962C8B-B14F-4D97-AF65-F5344CB8AC3E}">
        <p14:creationId xmlns:p14="http://schemas.microsoft.com/office/powerpoint/2010/main" val="306709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D5AB-CF04-4579-29A6-834C1669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9039-D634-1993-A040-62B2728D3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FBD01-BB16-474A-E915-5B5B6924F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Binary classification on the Telco Customer Churn dataset.</a:t>
            </a:r>
          </a:p>
          <a:p>
            <a:endParaRPr lang="en-GB" dirty="0"/>
          </a:p>
          <a:p>
            <a:r>
              <a:rPr lang="en-GB" dirty="0"/>
              <a:t>Goal: build rigorous ML pipelines, not chase raw accuracy.</a:t>
            </a:r>
          </a:p>
          <a:p>
            <a:endParaRPr lang="en-GB" dirty="0"/>
          </a:p>
          <a:p>
            <a:r>
              <a:rPr lang="en-GB" dirty="0"/>
              <a:t>Evaluate models along three axes:</a:t>
            </a:r>
          </a:p>
          <a:p>
            <a:pPr lvl="1"/>
            <a:r>
              <a:rPr lang="en-GB" dirty="0"/>
              <a:t>predictive performance (F1, ROC-AUC),</a:t>
            </a:r>
          </a:p>
          <a:p>
            <a:pPr lvl="1"/>
            <a:r>
              <a:rPr lang="en-GB" dirty="0"/>
              <a:t>computational efficiency (train + predict time),</a:t>
            </a:r>
          </a:p>
          <a:p>
            <a:pPr lvl="1"/>
            <a:r>
              <a:rPr lang="en-GB" dirty="0"/>
              <a:t>overfitting resistance (CV gaps).</a:t>
            </a:r>
          </a:p>
          <a:p>
            <a:pPr lvl="1"/>
            <a:endParaRPr lang="en-GB" dirty="0"/>
          </a:p>
          <a:p>
            <a:r>
              <a:rPr lang="en-GB" dirty="0"/>
              <a:t>Deliver: best pipeline + interpretable fallback.</a:t>
            </a:r>
          </a:p>
        </p:txBody>
      </p:sp>
    </p:spTree>
    <p:extLst>
      <p:ext uri="{BB962C8B-B14F-4D97-AF65-F5344CB8AC3E}">
        <p14:creationId xmlns:p14="http://schemas.microsoft.com/office/powerpoint/2010/main" val="267402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0975-7DD8-A54F-E623-44FA8F31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B24DD-5F30-3C30-E1DF-713C1B264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7043 samples × 20 features.</a:t>
            </a:r>
          </a:p>
          <a:p>
            <a:endParaRPr lang="en-GB" dirty="0"/>
          </a:p>
          <a:p>
            <a:r>
              <a:rPr lang="en-GB" dirty="0"/>
              <a:t>Mixed feature types: charges, contract, internet service, tenure.</a:t>
            </a:r>
          </a:p>
          <a:p>
            <a:endParaRPr lang="en-GB" dirty="0"/>
          </a:p>
          <a:p>
            <a:r>
              <a:rPr lang="en-GB" dirty="0"/>
              <a:t>Clear class imbalance: 26.5% churn.</a:t>
            </a:r>
          </a:p>
          <a:p>
            <a:endParaRPr lang="en-GB" dirty="0"/>
          </a:p>
          <a:p>
            <a:r>
              <a:rPr lang="en-GB" dirty="0"/>
              <a:t>Meaningful heterogeneity → non-linear structures likely.</a:t>
            </a:r>
          </a:p>
          <a:p>
            <a:endParaRPr lang="en-GB" dirty="0"/>
          </a:p>
          <a:p>
            <a:r>
              <a:rPr lang="en-GB" dirty="0"/>
              <a:t>Business cost of false negatives (missed churners) is high.</a:t>
            </a:r>
          </a:p>
        </p:txBody>
      </p:sp>
    </p:spTree>
    <p:extLst>
      <p:ext uri="{BB962C8B-B14F-4D97-AF65-F5344CB8AC3E}">
        <p14:creationId xmlns:p14="http://schemas.microsoft.com/office/powerpoint/2010/main" val="24086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5CEF-839C-FA7E-5779-D9DBBB83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34DC-FF37-A216-BE96-8ED23AD4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D1795-FED0-3479-C5C1-240F16466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Insert plot: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 </a:t>
            </a:r>
            <a:r>
              <a:rPr lang="en-US" altLang="en-US" i="1" dirty="0">
                <a:solidFill>
                  <a:srgbClr val="000000"/>
                </a:solidFill>
              </a:rPr>
              <a:t>Churn class balance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72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7B8E3-3540-36F8-A447-3DF341DD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D637-CA85-B283-B3E7-106F412D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Standardised ML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6F31A-384F-35E8-BA1A-35125F108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Identical structure for all models: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Cleaning: </a:t>
            </a:r>
            <a:r>
              <a:rPr lang="en-GB" dirty="0" err="1"/>
              <a:t>TotalCharges</a:t>
            </a:r>
            <a:r>
              <a:rPr lang="en-GB" dirty="0"/>
              <a:t> coercion, collapsing "No internet/phone service".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Preprocessing:</a:t>
            </a:r>
          </a:p>
          <a:p>
            <a:pPr lvl="2"/>
            <a:r>
              <a:rPr lang="en-GB" dirty="0"/>
              <a:t>numeric → median impute + standardise</a:t>
            </a:r>
          </a:p>
          <a:p>
            <a:pPr lvl="2"/>
            <a:r>
              <a:rPr lang="en-GB" dirty="0"/>
              <a:t>categorical → most-frequent + OHE (drop binary dummies)</a:t>
            </a:r>
          </a:p>
          <a:p>
            <a:pPr lvl="2"/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Classifier: LR / DT / SVM / RF / GB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Ensures comparability and avoids data leakage.</a:t>
            </a:r>
          </a:p>
        </p:txBody>
      </p:sp>
    </p:spTree>
    <p:extLst>
      <p:ext uri="{BB962C8B-B14F-4D97-AF65-F5344CB8AC3E}">
        <p14:creationId xmlns:p14="http://schemas.microsoft.com/office/powerpoint/2010/main" val="398328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4E3AF-3BB1-7AC3-B47C-0D50DA34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4E1B-C5CB-2640-E452-DC4D7DA2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Standardised ML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EF652-556D-917C-854A-D43926F35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Insert diagram: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 </a:t>
            </a:r>
            <a:r>
              <a:rPr lang="en-US" altLang="en-US" i="1" dirty="0">
                <a:solidFill>
                  <a:srgbClr val="000000"/>
                </a:solidFill>
              </a:rPr>
              <a:t>Pipeline schematic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72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F8EE2-4A84-F376-DEDB-A3612575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7C07-BDBD-8CFC-5E9A-2FFC02DD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Five supervised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6A37F-9C18-DB74-FCA1-AC4E66DB1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Logistic Regression (L2-reg, C=0.01)</a:t>
            </a:r>
          </a:p>
          <a:p>
            <a:endParaRPr lang="en-GB" dirty="0"/>
          </a:p>
          <a:p>
            <a:r>
              <a:rPr lang="en-GB" dirty="0"/>
              <a:t>Decision Tree (depth=3)</a:t>
            </a:r>
          </a:p>
          <a:p>
            <a:endParaRPr lang="en-GB" dirty="0"/>
          </a:p>
          <a:p>
            <a:r>
              <a:rPr lang="en-GB" dirty="0"/>
              <a:t>SVM (RBF, C=0.1)</a:t>
            </a:r>
          </a:p>
          <a:p>
            <a:endParaRPr lang="en-GB" dirty="0"/>
          </a:p>
          <a:p>
            <a:r>
              <a:rPr lang="en-GB" dirty="0"/>
              <a:t>Random Forest (200 trees, depth=12)</a:t>
            </a:r>
          </a:p>
          <a:p>
            <a:endParaRPr lang="en-GB" dirty="0"/>
          </a:p>
          <a:p>
            <a:r>
              <a:rPr lang="en-GB" dirty="0"/>
              <a:t>Gradient Boosting (200 estimators, </a:t>
            </a:r>
            <a:r>
              <a:rPr lang="en-GB" dirty="0" err="1"/>
              <a:t>Ir</a:t>
            </a:r>
            <a:r>
              <a:rPr lang="en-GB" dirty="0"/>
              <a:t>=0.05)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These cover the entire supervised spectrum of the course materials: linear → kernel → tree → ensembles.</a:t>
            </a:r>
          </a:p>
        </p:txBody>
      </p:sp>
    </p:spTree>
    <p:extLst>
      <p:ext uri="{BB962C8B-B14F-4D97-AF65-F5344CB8AC3E}">
        <p14:creationId xmlns:p14="http://schemas.microsoft.com/office/powerpoint/2010/main" val="419132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9B73-BDF5-AD42-A21C-050C51E0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5F01-CDB3-0E91-6AA2-13C19D34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&amp; overfitting (CV)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A9B82-B8DA-5676-1E1F-9B4A7E4F0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Key observations from 5-fold CV:</a:t>
            </a:r>
          </a:p>
          <a:p>
            <a:pPr lvl="1"/>
            <a:r>
              <a:rPr lang="en-GB" dirty="0"/>
              <a:t>Random Forest: highest mean F1 (0.639), good ROC-AUC (0.845).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Logistic Regression: stable, minimal overfitting (gap = 0.01).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Decision Tree: competitive F1 but highest overfitting (gap = 0.05).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SVM &amp; Gradient Boosting: strong ROC-AUC but not leading F1.</a:t>
            </a:r>
          </a:p>
        </p:txBody>
      </p:sp>
    </p:spTree>
    <p:extLst>
      <p:ext uri="{BB962C8B-B14F-4D97-AF65-F5344CB8AC3E}">
        <p14:creationId xmlns:p14="http://schemas.microsoft.com/office/powerpoint/2010/main" val="311263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B4E9-F6F4-E47F-CBD9-CD150326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B61A-4389-2035-C01C-2199433C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&amp; overfitting (CV)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68A15-B014-629F-C7BC-950B39C53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Insert table: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 CV results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76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1355-1F4E-E876-FF66-99C987B1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EB53-4748-B062-C02B-D902EA8D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held-out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20B4-B13E-1E9A-1126-3D18B63AE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 the independent test set:</a:t>
            </a:r>
          </a:p>
          <a:p>
            <a:pPr lvl="1"/>
            <a:r>
              <a:rPr lang="en-GB" dirty="0"/>
              <a:t>Random Forest = best F1 (0.630)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Decision Tree = fastest (0.04 s)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SVM = highest cost (≥ 4 s)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Gradient Boosting = best ROC-AUC (0.846) but lowest F1</a:t>
            </a:r>
          </a:p>
        </p:txBody>
      </p:sp>
    </p:spTree>
    <p:extLst>
      <p:ext uri="{BB962C8B-B14F-4D97-AF65-F5344CB8AC3E}">
        <p14:creationId xmlns:p14="http://schemas.microsoft.com/office/powerpoint/2010/main" val="4193794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9C2A-30BC-012B-8BE4-B9834816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9780-D191-9C0D-F4A4-E2CED390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held-out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F3294-550D-A303-29B6-309B13A2C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Insert table: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 Test benchmark (train time, predict time, F1, ROC–AUC) 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660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DB5F-CC5A-B11F-2963-5041AE46B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BC48-B542-919C-685A-6127CF98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vs. training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045ED-C816-78E5-7F28-C6D8D904D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the frontier logic:</a:t>
            </a:r>
          </a:p>
          <a:p>
            <a:pPr lvl="1"/>
            <a:r>
              <a:rPr lang="en-GB" i="1" dirty="0"/>
              <a:t>A model is dominated if another is at least as fast and strictly better in F1.</a:t>
            </a:r>
          </a:p>
          <a:p>
            <a:endParaRPr lang="en-GB" i="1" dirty="0"/>
          </a:p>
          <a:p>
            <a:r>
              <a:rPr lang="en-GB" dirty="0"/>
              <a:t>Frontier contains only:</a:t>
            </a:r>
          </a:p>
          <a:p>
            <a:pPr lvl="1"/>
            <a:r>
              <a:rPr lang="en-GB" dirty="0"/>
              <a:t>Decision Tree (fastest)</a:t>
            </a:r>
          </a:p>
          <a:p>
            <a:pPr lvl="1"/>
            <a:r>
              <a:rPr lang="en-GB" dirty="0"/>
              <a:t>Random Forest (highest F1)</a:t>
            </a:r>
          </a:p>
          <a:p>
            <a:endParaRPr lang="en-GB" dirty="0"/>
          </a:p>
          <a:p>
            <a:r>
              <a:rPr lang="en-GB" dirty="0"/>
              <a:t>Dominated: LR, SVM, GB (all slower + worse F1).</a:t>
            </a:r>
          </a:p>
        </p:txBody>
      </p:sp>
    </p:spTree>
    <p:extLst>
      <p:ext uri="{BB962C8B-B14F-4D97-AF65-F5344CB8AC3E}">
        <p14:creationId xmlns:p14="http://schemas.microsoft.com/office/powerpoint/2010/main" val="475853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15B9-B736-E4A7-D558-CB2494E8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51FE-A973-17FE-E9D5-F3F6CEA2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vs. training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DF3AE-8A29-14F4-F082-D667817C1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dirty="0"/>
              <a:t>Insert plot: F1 vs train time (efficient frontier)</a:t>
            </a:r>
          </a:p>
        </p:txBody>
      </p:sp>
    </p:spTree>
    <p:extLst>
      <p:ext uri="{BB962C8B-B14F-4D97-AF65-F5344CB8AC3E}">
        <p14:creationId xmlns:p14="http://schemas.microsoft.com/office/powerpoint/2010/main" val="1069763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F7456-BCAB-EE4D-18D2-3DBE9DD8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775B-0E3C-BB65-90A9-84190743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Justification of chosen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1AFC-F74B-29E4-0D08-0674F2C0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Best F1 (0.630) and strong ROC-AUC.</a:t>
            </a:r>
          </a:p>
          <a:p>
            <a:r>
              <a:rPr lang="en-GB" dirty="0"/>
              <a:t>Only slightly slower than the Decision Tree (fractions of a second).</a:t>
            </a:r>
          </a:p>
          <a:p>
            <a:r>
              <a:rPr lang="en-GB" dirty="0"/>
              <a:t>Variance reduction via bagging + feature subsampling.</a:t>
            </a:r>
          </a:p>
          <a:p>
            <a:r>
              <a:rPr lang="en-GB" dirty="0"/>
              <a:t>Learns non-linear, interaction-rich decision rules without feature engineering.</a:t>
            </a:r>
          </a:p>
          <a:p>
            <a:r>
              <a:rPr lang="en-GB" dirty="0"/>
              <a:t>Diagnostics confirm good generalisation and no severe underfitting.</a:t>
            </a:r>
          </a:p>
        </p:txBody>
      </p:sp>
    </p:spTree>
    <p:extLst>
      <p:ext uri="{BB962C8B-B14F-4D97-AF65-F5344CB8AC3E}">
        <p14:creationId xmlns:p14="http://schemas.microsoft.com/office/powerpoint/2010/main" val="2483074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6AB3-92B0-0EB1-66F9-D5E1D2D6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336C-1A6F-804D-C3AE-ECAE904A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C70C-4970-43AD-4DEE-622604B73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Confusion matrix: good recall + balanced precision.</a:t>
            </a:r>
          </a:p>
          <a:p>
            <a:r>
              <a:rPr lang="en-GB" dirty="0"/>
              <a:t>ROC curve: smooth, AUC = 0.85.</a:t>
            </a:r>
          </a:p>
          <a:p>
            <a:r>
              <a:rPr lang="en-GB" dirty="0"/>
              <a:t>Precision-recall curve: strong performance for minority class.</a:t>
            </a:r>
          </a:p>
          <a:p>
            <a:r>
              <a:rPr lang="en-GB" dirty="0"/>
              <a:t>Learning curve: training/validation F1 converge → moderate variance.</a:t>
            </a:r>
          </a:p>
          <a:p>
            <a:r>
              <a:rPr lang="en-GB" dirty="0"/>
              <a:t>Feature importances: Contract, tenure, charges, fibre optic.</a:t>
            </a:r>
          </a:p>
        </p:txBody>
      </p:sp>
    </p:spTree>
    <p:extLst>
      <p:ext uri="{BB962C8B-B14F-4D97-AF65-F5344CB8AC3E}">
        <p14:creationId xmlns:p14="http://schemas.microsoft.com/office/powerpoint/2010/main" val="2395659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C7B7-3591-7B87-E1EE-9AE0DBA4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91DA8-F8C7-0E84-A240-78ABED77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A202-D5EE-BC0B-572A-9F784B65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dirty="0"/>
              <a:t>Insert plots:</a:t>
            </a:r>
          </a:p>
          <a:p>
            <a:pPr marL="0" indent="0" algn="ctr">
              <a:buNone/>
            </a:pPr>
            <a:r>
              <a:rPr lang="en-GB" dirty="0"/>
              <a:t>• Confusion matrix</a:t>
            </a:r>
          </a:p>
          <a:p>
            <a:pPr marL="0" indent="0" algn="ctr">
              <a:buNone/>
            </a:pPr>
            <a:r>
              <a:rPr lang="en-GB" dirty="0"/>
              <a:t>• ROC + PR curves</a:t>
            </a:r>
          </a:p>
          <a:p>
            <a:pPr marL="0" indent="0" algn="ctr">
              <a:buNone/>
            </a:pPr>
            <a:r>
              <a:rPr lang="en-GB" dirty="0"/>
              <a:t>• Learning curve</a:t>
            </a:r>
          </a:p>
          <a:p>
            <a:pPr marL="0" indent="0" algn="ctr">
              <a:buNone/>
            </a:pPr>
            <a:r>
              <a:rPr lang="en-GB" dirty="0"/>
              <a:t>• Top-k feature importances</a:t>
            </a:r>
          </a:p>
        </p:txBody>
      </p:sp>
    </p:spTree>
    <p:extLst>
      <p:ext uri="{BB962C8B-B14F-4D97-AF65-F5344CB8AC3E}">
        <p14:creationId xmlns:p14="http://schemas.microsoft.com/office/powerpoint/2010/main" val="3672611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F88E-5321-F0DA-7C69-AD2E76179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62A6-083A-24E4-ACB5-73E2D4C6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model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90AD-D278-9D61-34F6-35CED39BC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Primary model: Random Forest</a:t>
            </a:r>
          </a:p>
          <a:p>
            <a:pPr lvl="1"/>
            <a:r>
              <a:rPr lang="en-GB" dirty="0"/>
              <a:t>best F1, strong ROC-AUC, low computational cost</a:t>
            </a:r>
          </a:p>
          <a:p>
            <a:pPr lvl="1"/>
            <a:r>
              <a:rPr lang="en-GB" dirty="0"/>
              <a:t>robust variance behaviour</a:t>
            </a:r>
          </a:p>
          <a:p>
            <a:pPr lvl="1"/>
            <a:r>
              <a:rPr lang="en-GB" dirty="0"/>
              <a:t>good diagnostics</a:t>
            </a:r>
          </a:p>
          <a:p>
            <a:pPr lvl="1"/>
            <a:endParaRPr lang="en-GB" dirty="0"/>
          </a:p>
          <a:p>
            <a:r>
              <a:rPr lang="en-GB" dirty="0"/>
              <a:t>Secondary (interpretable) model: Decision Tree</a:t>
            </a:r>
          </a:p>
          <a:p>
            <a:pPr lvl="1"/>
            <a:r>
              <a:rPr lang="en-GB" dirty="0"/>
              <a:t>extremely fast</a:t>
            </a:r>
          </a:p>
          <a:p>
            <a:pPr lvl="1"/>
            <a:r>
              <a:rPr lang="en-GB" dirty="0"/>
              <a:t>transparent rules</a:t>
            </a:r>
          </a:p>
          <a:p>
            <a:pPr lvl="1"/>
            <a:endParaRPr lang="en-GB" dirty="0"/>
          </a:p>
          <a:p>
            <a:pPr marL="0" indent="0" algn="ctr">
              <a:buNone/>
            </a:pP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Structured experiment design and methodological discipline were the key.</a:t>
            </a:r>
          </a:p>
        </p:txBody>
      </p:sp>
    </p:spTree>
    <p:extLst>
      <p:ext uri="{BB962C8B-B14F-4D97-AF65-F5344CB8AC3E}">
        <p14:creationId xmlns:p14="http://schemas.microsoft.com/office/powerpoint/2010/main" val="3312208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8C882-85AE-6CF6-F8DB-54E31C9A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FC57-0E1D-EE89-3E1A-BACEF2C96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44489-0B9C-D2A9-2215-1934294008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237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691</Words>
  <Application>Microsoft Macintosh PowerPoint</Application>
  <PresentationFormat>Widescreen</PresentationFormat>
  <Paragraphs>116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-webkit-standard</vt:lpstr>
      <vt:lpstr>Aptos</vt:lpstr>
      <vt:lpstr>Aptos Display</vt:lpstr>
      <vt:lpstr>Arial</vt:lpstr>
      <vt:lpstr>Office Theme</vt:lpstr>
      <vt:lpstr>ENG4200 — Coursework 2</vt:lpstr>
      <vt:lpstr>Predicting customer churn</vt:lpstr>
      <vt:lpstr>Dataset characteristics</vt:lpstr>
      <vt:lpstr>Dataset characteristics</vt:lpstr>
      <vt:lpstr>Standardised ML pipeline</vt:lpstr>
      <vt:lpstr>Standardised ML pipeline</vt:lpstr>
      <vt:lpstr>Five supervised learning models</vt:lpstr>
      <vt:lpstr>Accuracy &amp; overfitting (CV)</vt:lpstr>
      <vt:lpstr>Accuracy &amp; overfitting (CV)</vt:lpstr>
      <vt:lpstr>Final held-out performance</vt:lpstr>
      <vt:lpstr>Final held-out performance</vt:lpstr>
      <vt:lpstr>Performance vs. training cost</vt:lpstr>
      <vt:lpstr>Performance vs. training cost</vt:lpstr>
      <vt:lpstr>Justification of chosen pipeline</vt:lpstr>
      <vt:lpstr>Random Forest diagnostics</vt:lpstr>
      <vt:lpstr>Random Forest diagnostics</vt:lpstr>
      <vt:lpstr>Final model recommendation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Sidi Bakari (student)</dc:creator>
  <cp:lastModifiedBy>Nathan Sidi Bakari (student)</cp:lastModifiedBy>
  <cp:revision>1</cp:revision>
  <dcterms:created xsi:type="dcterms:W3CDTF">2025-11-23T04:15:58Z</dcterms:created>
  <dcterms:modified xsi:type="dcterms:W3CDTF">2025-11-23T04:41:01Z</dcterms:modified>
</cp:coreProperties>
</file>